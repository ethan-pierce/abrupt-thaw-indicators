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98029-85E7-6445-B865-49BA05C0CE77}" type="datetimeFigureOut">
              <a:rPr lang="en-US" smtClean="0"/>
              <a:t>7/1/25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0C762-9B40-BB4F-B251-12B47B54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2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762-9B40-BB4F-B251-12B47B544E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82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2DA2-BAD1-B5D8-3ED7-6A90BED9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BF395-3655-13B6-7B81-55ECB2FF4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B3284-2D69-A9AA-33C4-0F08CF1A5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7C0D7-FB08-05B5-C4C9-456EC5725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762-9B40-BB4F-B251-12B47B544E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81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C17F3-0C2E-FDA5-CEF0-E08A3A48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75B17-2365-F3EB-3F00-7E84B63EF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A7448-AB9C-9D56-CDF7-DC769FFB6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6E112-A3D1-8E9B-D75A-A8B08B1DA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762-9B40-BB4F-B251-12B47B544E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90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2341-632F-B487-10CB-AA86CE7A0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6B438-488B-5146-F428-4AB891C30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98451-2086-7A88-70AE-06C2B89B7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AB3EA-57C9-A2F1-3097-09F7E9822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762-9B40-BB4F-B251-12B47B544E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60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87D6-9C8D-FCD3-FFDE-E94ED04A4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EFE40-BAB0-BB1C-58A5-895FB635F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82A03-C4EF-90D1-9CC5-35CCCC600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CE4B7-2392-E9E9-F26C-81EB45CA0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8E33-2F95-2139-8F5F-01AADC94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4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4D8B-9C89-A390-BF64-3A6529F97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67AA2-53C1-3B27-417A-91410E984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4772D-D603-4172-13D8-1B4627085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06D00-C953-4E8B-758E-BD54B939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F0199-2DEE-E727-36BB-2BD409E8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32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F126-F72C-10CD-8A14-DB374CE70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C5EA6-0463-F639-585D-E1ADA8C39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0AF05-621A-7DB3-C331-139519E5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0A822-B433-2CAF-3A82-EDC247B85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72937-8444-3CC4-A679-1F23B71D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8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E999-1128-4680-B925-70D6EF19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6D2A3-9C5A-C215-71C3-1FD6188EC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FCE3C-E5CE-6351-0107-B61609B55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21337-C5DA-C7C7-B8C2-F194643D7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1DF33-BED9-BC08-A456-9BD9A3E6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701CD-9EAE-7B92-3FDA-AECA55D8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8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FBEF-6224-A17E-0462-18EFCC6D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36013-F269-088C-DFB3-F3553753C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709AB-A5AE-D1AB-0AB4-964235629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B8877-BCE0-E1D5-09FA-876075EEA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E7DC9-A4D5-50EB-AF1A-194CED1F07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33785-FFCE-4BDC-F08C-3028335C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E9F24D-ECF4-ABB4-D568-98E256BC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FC3081-687B-5D6D-3C7B-73D69CEE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78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ACC64-A6B9-56C3-377E-99CB9B9F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076D22-F636-2467-7EFD-747B15FE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EA1C1-9FFB-4250-F60F-CAEA06C9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849C1-23FF-9A2B-DB82-92BB965D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89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45F65-F14D-B635-CA35-0782142E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CF86C-0214-C2F1-D5B9-A42C4C62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2E29-43B6-C2D6-B161-E673E697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51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EDAE-FC1B-B5B8-2188-D60B3C292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84E99-5D02-4E96-D926-67893DB7B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767AD-3E33-1D13-0815-2B410FCD6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03E67-F54D-FBED-FB74-E241F847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05B18-F3C4-CE30-D0DD-F90655C8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E7498-3D0E-50F0-6F95-361FAD04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5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4FF33-F34D-3512-9C06-93B0F1A79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DCD66-81F7-2EB7-4A35-E153DEC91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9D38A-8C3B-FD46-E6D3-F192CEBCB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2A0DC-EE91-92EC-5BC3-AAD4B843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22688-56EB-4FFB-F971-9AE347F2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FD3F8-B092-C7DD-C91C-1F1744A6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6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D1FA-66B7-CA32-108C-6795D4D4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D5601-E116-4217-F772-05449FD8E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5C737-2BF1-D5C7-F39E-105BB7B3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64AC4-B5C2-4026-A763-EBABBFE4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28D2F-4C49-FE64-0939-F930ACCC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9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2C7EF-C8B7-D195-904A-32A42514E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7461CC-8789-6F8E-ECCF-0303AA0FA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6B3C5-51D3-B019-A726-C803119F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F7632-FB1C-F5E0-8042-D56A60AA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71A66-45C3-528D-5206-A183BEC3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4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8DF4D-D82E-C9DD-9A06-C82E0ABB4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2709F-3A7C-27EF-251B-9DAA863ED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917E2-0102-0CB3-DDD5-FF393F470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39DDD-D939-7841-A6B0-51FFAED3CB08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B8A-3288-510E-0CB1-B91262D6C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4C31A-55B4-0B73-64C2-BBC40C0EF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1E71D-1130-E641-96E5-7B940983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A35752-AAFA-57D3-825E-D2F9617AA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7"/>
            <a:ext cx="10515600" cy="942679"/>
          </a:xfrm>
        </p:spPr>
        <p:txBody>
          <a:bodyPr/>
          <a:lstStyle/>
          <a:p>
            <a:r>
              <a:rPr lang="en-US" dirty="0"/>
              <a:t>Updates: ML/AI modeling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F70FE-41C0-F80B-51EC-CC7911FCE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791" y="1825625"/>
            <a:ext cx="5511209" cy="4667250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dirty="0"/>
              <a:t>Database: </a:t>
            </a:r>
            <a:r>
              <a:rPr lang="en-US" dirty="0">
                <a:solidFill>
                  <a:srgbClr val="FF0000"/>
                </a:solidFill>
              </a:rPr>
              <a:t>24,000</a:t>
            </a:r>
            <a:r>
              <a:rPr lang="en-US" dirty="0"/>
              <a:t> points</a:t>
            </a:r>
          </a:p>
          <a:p>
            <a:pPr>
              <a:buClr>
                <a:schemeClr val="tx1"/>
              </a:buClr>
            </a:pPr>
            <a:r>
              <a:rPr lang="en-US" dirty="0"/>
              <a:t>Only </a:t>
            </a:r>
            <a:r>
              <a:rPr lang="en-US" dirty="0">
                <a:solidFill>
                  <a:srgbClr val="FF0000"/>
                </a:solidFill>
              </a:rPr>
              <a:t>300</a:t>
            </a:r>
            <a:r>
              <a:rPr lang="en-US" dirty="0"/>
              <a:t> control points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FF0000"/>
                </a:solidFill>
              </a:rPr>
              <a:t>One model</a:t>
            </a:r>
            <a:r>
              <a:rPr lang="en-US" dirty="0"/>
              <a:t> architecture (feed-forward neural network)</a:t>
            </a:r>
          </a:p>
          <a:p>
            <a:pPr>
              <a:buClr>
                <a:schemeClr val="tx1"/>
              </a:buClr>
            </a:pPr>
            <a:r>
              <a:rPr lang="en-US" dirty="0"/>
              <a:t>Model parameters </a:t>
            </a:r>
            <a:r>
              <a:rPr lang="en-US" dirty="0">
                <a:solidFill>
                  <a:srgbClr val="FF0000"/>
                </a:solidFill>
              </a:rPr>
              <a:t>tuned by hand</a:t>
            </a:r>
          </a:p>
          <a:p>
            <a:pPr>
              <a:buClr>
                <a:schemeClr val="tx1"/>
              </a:buClr>
            </a:pPr>
            <a:r>
              <a:rPr lang="en-US" dirty="0"/>
              <a:t>Good performance (</a:t>
            </a:r>
            <a:r>
              <a:rPr lang="en-US" dirty="0">
                <a:solidFill>
                  <a:srgbClr val="FF0000"/>
                </a:solidFill>
              </a:rPr>
              <a:t>0.80</a:t>
            </a:r>
            <a:r>
              <a:rPr lang="en-US" dirty="0"/>
              <a:t> AUC)</a:t>
            </a:r>
          </a:p>
          <a:p>
            <a:pPr>
              <a:buClr>
                <a:schemeClr val="tx1"/>
              </a:buClr>
            </a:pPr>
            <a:r>
              <a:rPr lang="en-US" dirty="0"/>
              <a:t>Strong </a:t>
            </a:r>
            <a:r>
              <a:rPr lang="en-US" dirty="0">
                <a:solidFill>
                  <a:srgbClr val="FF0000"/>
                </a:solidFill>
              </a:rPr>
              <a:t>bias towards recall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High rate of true positives</a:t>
            </a:r>
          </a:p>
          <a:p>
            <a:pPr lvl="1">
              <a:buClr>
                <a:schemeClr val="tx1"/>
              </a:buClr>
            </a:pPr>
            <a:r>
              <a:rPr lang="en-US" dirty="0">
                <a:solidFill>
                  <a:srgbClr val="FF0000"/>
                </a:solidFill>
              </a:rPr>
              <a:t>Low rate of true negatives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FF0000"/>
                </a:solidFill>
              </a:rPr>
              <a:t>Post-hoc</a:t>
            </a:r>
            <a:r>
              <a:rPr lang="en-US" dirty="0"/>
              <a:t> explainability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4C3E02-EEB8-7F0C-77EE-107951CCB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66144" cy="4351338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dirty="0"/>
              <a:t>Now, </a:t>
            </a:r>
            <a:r>
              <a:rPr lang="en-US" dirty="0">
                <a:solidFill>
                  <a:srgbClr val="00B050"/>
                </a:solidFill>
              </a:rPr>
              <a:t>52,000</a:t>
            </a:r>
            <a:r>
              <a:rPr lang="en-US" dirty="0"/>
              <a:t> total points</a:t>
            </a:r>
          </a:p>
          <a:p>
            <a:pPr>
              <a:buClr>
                <a:schemeClr val="tx1"/>
              </a:buClr>
            </a:pPr>
            <a:r>
              <a:rPr lang="en-US" dirty="0"/>
              <a:t>And </a:t>
            </a:r>
            <a:r>
              <a:rPr lang="en-US" dirty="0">
                <a:solidFill>
                  <a:srgbClr val="00B050"/>
                </a:solidFill>
              </a:rPr>
              <a:t>1,500</a:t>
            </a:r>
            <a:r>
              <a:rPr lang="en-US" dirty="0"/>
              <a:t> control points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00B050"/>
                </a:solidFill>
              </a:rPr>
              <a:t>Multiple algorithms</a:t>
            </a:r>
            <a:r>
              <a:rPr lang="en-US" dirty="0"/>
              <a:t> “competing” to be selected</a:t>
            </a:r>
          </a:p>
          <a:p>
            <a:pPr>
              <a:buClr>
                <a:schemeClr val="tx1"/>
              </a:buClr>
            </a:pPr>
            <a:r>
              <a:rPr lang="en-US" dirty="0"/>
              <a:t>Quantitative </a:t>
            </a:r>
            <a:r>
              <a:rPr lang="en-US" dirty="0">
                <a:solidFill>
                  <a:srgbClr val="00B050"/>
                </a:solidFill>
              </a:rPr>
              <a:t>cross-validation</a:t>
            </a:r>
          </a:p>
          <a:p>
            <a:pPr>
              <a:buClr>
                <a:schemeClr val="tx1"/>
              </a:buClr>
            </a:pPr>
            <a:r>
              <a:rPr lang="en-US" dirty="0"/>
              <a:t>Better performance (</a:t>
            </a:r>
            <a:r>
              <a:rPr lang="en-US" dirty="0">
                <a:solidFill>
                  <a:srgbClr val="00B050"/>
                </a:solidFill>
              </a:rPr>
              <a:t>0.88</a:t>
            </a:r>
            <a:r>
              <a:rPr lang="en-US" dirty="0"/>
              <a:t> AUC)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00B050"/>
                </a:solidFill>
              </a:rPr>
              <a:t>Balanced</a:t>
            </a:r>
            <a:r>
              <a:rPr lang="en-US" dirty="0"/>
              <a:t> performance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High rate of true positives</a:t>
            </a:r>
          </a:p>
          <a:p>
            <a:pPr lvl="1">
              <a:buClr>
                <a:schemeClr val="tx1"/>
              </a:buClr>
            </a:pPr>
            <a:r>
              <a:rPr lang="en-US" dirty="0">
                <a:solidFill>
                  <a:srgbClr val="00B050"/>
                </a:solidFill>
              </a:rPr>
              <a:t>High rate of true negatives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00B050"/>
                </a:solidFill>
              </a:rPr>
              <a:t>Built-in</a:t>
            </a:r>
            <a:r>
              <a:rPr lang="en-US" dirty="0"/>
              <a:t> explainability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285FAF1-74B0-FCDB-47ED-10810C7CD1F8}"/>
              </a:ext>
            </a:extLst>
          </p:cNvPr>
          <p:cNvSpPr txBox="1">
            <a:spLocks/>
          </p:cNvSpPr>
          <p:nvPr/>
        </p:nvSpPr>
        <p:spPr>
          <a:xfrm>
            <a:off x="584791" y="978199"/>
            <a:ext cx="3062176" cy="942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Previous update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EC8C53E-6F2E-6326-8103-4AC8BA86C027}"/>
              </a:ext>
            </a:extLst>
          </p:cNvPr>
          <p:cNvSpPr txBox="1">
            <a:spLocks/>
          </p:cNvSpPr>
          <p:nvPr/>
        </p:nvSpPr>
        <p:spPr>
          <a:xfrm>
            <a:off x="6172200" y="978199"/>
            <a:ext cx="3062176" cy="942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Current status</a:t>
            </a:r>
          </a:p>
        </p:txBody>
      </p:sp>
    </p:spTree>
    <p:extLst>
      <p:ext uri="{BB962C8B-B14F-4D97-AF65-F5344CB8AC3E}">
        <p14:creationId xmlns:p14="http://schemas.microsoft.com/office/powerpoint/2010/main" val="3923265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1E36-5F89-DD45-2380-FCA3E891A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5798F7-4D05-DB30-C1D1-046FF16F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7"/>
            <a:ext cx="10708758" cy="942679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predictions are robust across the full dataset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D68DC9-59B8-980E-FF29-4B444B8CA58A}"/>
              </a:ext>
            </a:extLst>
          </p:cNvPr>
          <p:cNvCxnSpPr/>
          <p:nvPr/>
        </p:nvCxnSpPr>
        <p:spPr>
          <a:xfrm>
            <a:off x="1584251" y="6379533"/>
            <a:ext cx="438061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95DD77-CEBA-75F9-E833-412497E6F368}"/>
              </a:ext>
            </a:extLst>
          </p:cNvPr>
          <p:cNvCxnSpPr>
            <a:cxnSpLocks/>
          </p:cNvCxnSpPr>
          <p:nvPr/>
        </p:nvCxnSpPr>
        <p:spPr>
          <a:xfrm flipV="1">
            <a:off x="680484" y="1446028"/>
            <a:ext cx="0" cy="431681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F8EBB91-A1F1-837A-EEC9-0E56E9305059}"/>
              </a:ext>
            </a:extLst>
          </p:cNvPr>
          <p:cNvSpPr txBox="1"/>
          <p:nvPr/>
        </p:nvSpPr>
        <p:spPr>
          <a:xfrm>
            <a:off x="1993604" y="6413078"/>
            <a:ext cx="356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Minimizing rate of false negatives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B0316E-E599-12D0-F8AA-FA00A130A82B}"/>
              </a:ext>
            </a:extLst>
          </p:cNvPr>
          <p:cNvSpPr txBox="1"/>
          <p:nvPr/>
        </p:nvSpPr>
        <p:spPr>
          <a:xfrm rot="16200000">
            <a:off x="-1442851" y="3244334"/>
            <a:ext cx="356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Minimizing rate of false positives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B2F1F1-9E8B-3854-5DCF-39663C804FB7}"/>
              </a:ext>
            </a:extLst>
          </p:cNvPr>
          <p:cNvSpPr txBox="1"/>
          <p:nvPr/>
        </p:nvSpPr>
        <p:spPr>
          <a:xfrm>
            <a:off x="1993604" y="3004272"/>
            <a:ext cx="3561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Very high “area under the curve” implies strong generalizability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B12680-7904-A406-BC69-6656820F94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42" t="9124" r="17637"/>
          <a:stretch>
            <a:fillRect/>
          </a:stretch>
        </p:blipFill>
        <p:spPr>
          <a:xfrm>
            <a:off x="838200" y="1228090"/>
            <a:ext cx="5257800" cy="5117899"/>
          </a:xfrm>
          <a:prstGeom prst="rect">
            <a:avLst/>
          </a:prstGeom>
        </p:spPr>
      </p:pic>
      <p:pic>
        <p:nvPicPr>
          <p:cNvPr id="30" name="Picture 29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1215504D-1955-D9FA-BB82-46B1A37A08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05" r="13081" b="1744"/>
          <a:stretch>
            <a:fillRect/>
          </a:stretch>
        </p:blipFill>
        <p:spPr>
          <a:xfrm>
            <a:off x="6253715" y="1378656"/>
            <a:ext cx="5598393" cy="445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8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8BDF9-3162-FFD0-0DBC-2CAB8129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D033F3-0461-246F-210D-DA0D53A5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3747"/>
            <a:ext cx="11134061" cy="942679"/>
          </a:xfrm>
        </p:spPr>
        <p:txBody>
          <a:bodyPr>
            <a:normAutofit fontScale="90000"/>
          </a:bodyPr>
          <a:lstStyle/>
          <a:p>
            <a:r>
              <a:rPr lang="en-US" dirty="0"/>
              <a:t>But, explainability is dominated by thermokarst lakes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31CC47-073C-7BF9-B78F-246C2DD376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17" t="1252" r="2585"/>
          <a:stretch>
            <a:fillRect/>
          </a:stretch>
        </p:blipFill>
        <p:spPr>
          <a:xfrm>
            <a:off x="1470837" y="1121742"/>
            <a:ext cx="9250325" cy="52495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857C60-F12F-BCC1-A5C0-EDCA1CA3B656}"/>
              </a:ext>
            </a:extLst>
          </p:cNvPr>
          <p:cNvSpPr/>
          <p:nvPr/>
        </p:nvSpPr>
        <p:spPr>
          <a:xfrm>
            <a:off x="2668772" y="1382233"/>
            <a:ext cx="7198242" cy="89313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86D9B-9CD1-13E9-763A-B8EE68318687}"/>
              </a:ext>
            </a:extLst>
          </p:cNvPr>
          <p:cNvSpPr txBox="1"/>
          <p:nvPr/>
        </p:nvSpPr>
        <p:spPr>
          <a:xfrm>
            <a:off x="219739" y="1474857"/>
            <a:ext cx="2066259" cy="70788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Only relevant for lake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41DA0-C82B-C30B-AA00-36FCAA66FAD5}"/>
              </a:ext>
            </a:extLst>
          </p:cNvPr>
          <p:cNvSpPr txBox="1"/>
          <p:nvPr/>
        </p:nvSpPr>
        <p:spPr>
          <a:xfrm>
            <a:off x="4623390" y="6371270"/>
            <a:ext cx="14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Abrupt thaw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76B2B5-B3A0-632B-3880-EF09DB149272}"/>
              </a:ext>
            </a:extLst>
          </p:cNvPr>
          <p:cNvCxnSpPr>
            <a:cxnSpLocks/>
          </p:cNvCxnSpPr>
          <p:nvPr/>
        </p:nvCxnSpPr>
        <p:spPr>
          <a:xfrm>
            <a:off x="5359694" y="6360638"/>
            <a:ext cx="4379729" cy="0"/>
          </a:xfrm>
          <a:prstGeom prst="straightConnector1">
            <a:avLst/>
          </a:prstGeom>
          <a:ln w="381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107DC83-61A6-49BC-81A6-1D8822803E00}"/>
              </a:ext>
            </a:extLst>
          </p:cNvPr>
          <p:cNvSpPr txBox="1"/>
          <p:nvPr/>
        </p:nvSpPr>
        <p:spPr>
          <a:xfrm>
            <a:off x="9071787" y="6371270"/>
            <a:ext cx="1590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Gradual thaw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65EA93-F9E3-E27F-5F3A-2036B32E7D5B}"/>
              </a:ext>
            </a:extLst>
          </p:cNvPr>
          <p:cNvCxnSpPr>
            <a:stCxn id="5" idx="3"/>
            <a:endCxn id="3" idx="1"/>
          </p:cNvCxnSpPr>
          <p:nvPr/>
        </p:nvCxnSpPr>
        <p:spPr>
          <a:xfrm>
            <a:off x="2285998" y="1828800"/>
            <a:ext cx="38277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471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61A22-3FFD-F427-0CF9-BC24CD73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ABC4D-10C6-6EC3-21C7-95EF9AEE0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7"/>
            <a:ext cx="10515600" cy="942679"/>
          </a:xfrm>
        </p:spPr>
        <p:txBody>
          <a:bodyPr/>
          <a:lstStyle/>
          <a:p>
            <a:r>
              <a:rPr lang="en-US" dirty="0"/>
              <a:t>Final steps before publication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3FF089-2B9E-BC72-1908-F25DA8C97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158945"/>
            <a:ext cx="10272823" cy="5582093"/>
          </a:xfrm>
        </p:spPr>
        <p:txBody>
          <a:bodyPr/>
          <a:lstStyle/>
          <a:p>
            <a:r>
              <a:rPr lang="en-US" u="sng" dirty="0"/>
              <a:t>Model analysis</a:t>
            </a:r>
          </a:p>
          <a:p>
            <a:pPr lvl="1"/>
            <a:r>
              <a:rPr lang="en-US" i="1" dirty="0"/>
              <a:t>Population splitting: </a:t>
            </a:r>
            <a:r>
              <a:rPr lang="en-US" dirty="0"/>
              <a:t>how do our predictions change if we remove the thermokarst lakes from the dataset for a subset of models?</a:t>
            </a:r>
            <a:endParaRPr lang="en-US" i="1" dirty="0"/>
          </a:p>
          <a:p>
            <a:pPr lvl="1"/>
            <a:r>
              <a:rPr lang="en-US" i="1" dirty="0"/>
              <a:t>Spatial cross-validation</a:t>
            </a:r>
            <a:r>
              <a:rPr lang="en-US" dirty="0"/>
              <a:t>: how well do our best-performing models generalize between regions?</a:t>
            </a:r>
          </a:p>
          <a:p>
            <a:r>
              <a:rPr lang="en-US" u="sng" dirty="0"/>
              <a:t>Interpretability</a:t>
            </a:r>
          </a:p>
          <a:p>
            <a:pPr lvl="1"/>
            <a:r>
              <a:rPr lang="en-US" i="1" dirty="0"/>
              <a:t>Pointwise decision analysis: </a:t>
            </a:r>
            <a:r>
              <a:rPr lang="en-US" dirty="0"/>
              <a:t>is there a common explanation for the abrupt thaw points incorrectly classified as non-abrupt thaw?</a:t>
            </a:r>
          </a:p>
          <a:p>
            <a:pPr lvl="1"/>
            <a:r>
              <a:rPr lang="en-US" i="1" dirty="0"/>
              <a:t>Leveraging expert knowledge: </a:t>
            </a:r>
            <a:r>
              <a:rPr lang="en-US" dirty="0"/>
              <a:t>at field sites under intensive study, does our model’s interpretation match the current state of knowledge?</a:t>
            </a:r>
          </a:p>
          <a:p>
            <a:r>
              <a:rPr lang="en-US" u="sng" dirty="0"/>
              <a:t>Science communication</a:t>
            </a:r>
          </a:p>
          <a:p>
            <a:pPr lvl="1"/>
            <a:r>
              <a:rPr lang="en-US" i="1" dirty="0"/>
              <a:t>Generalizing results: </a:t>
            </a:r>
            <a:r>
              <a:rPr lang="en-US" dirty="0"/>
              <a:t>what does our model predict across the state of Alaska? Which regions are more/less susceptible to abrupt thaw?</a:t>
            </a:r>
          </a:p>
          <a:p>
            <a:pPr lvl="1"/>
            <a:r>
              <a:rPr lang="en-US" i="1" dirty="0"/>
              <a:t>Draft manuscript: </a:t>
            </a:r>
            <a:r>
              <a:rPr lang="en-US" dirty="0"/>
              <a:t>in progress, expected submission by end of August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43941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266</Words>
  <Application>Microsoft Macintosh PowerPoint</Application>
  <PresentationFormat>Widescreen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Updates: ML/AI modeling</vt:lpstr>
      <vt:lpstr>Model predictions are robust across the full dataset</vt:lpstr>
      <vt:lpstr>But, explainability is dominated by thermokarst lakes</vt:lpstr>
      <vt:lpstr>Final steps before publication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Pierce</dc:creator>
  <cp:lastModifiedBy>Ethan Pierce</cp:lastModifiedBy>
  <cp:revision>17</cp:revision>
  <dcterms:created xsi:type="dcterms:W3CDTF">2025-07-01T16:35:18Z</dcterms:created>
  <dcterms:modified xsi:type="dcterms:W3CDTF">2025-07-01T19:36:00Z</dcterms:modified>
</cp:coreProperties>
</file>